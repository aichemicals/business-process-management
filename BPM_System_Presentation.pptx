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Прототип BPM-системы, реализующий все 7 функциональных модулей из технического задания. Разработан командой AIChemicals для конкурса Astana 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системных проблем из раздела 2 ТЗ. Всё сводится к отсутствию единой цифровой модели «роль–функция–процесс».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идея решения из раздела 3 ТЗ: перевести описательные ВНД в исполняемую цифровую модель.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семь модулей из раздела 5 ТЗ реализованы в едином веб-приложении. Далее — по каждому модулю с демонстрацией и соответствием ТЗ.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Матрица «роль–функция–процесс» с колонками по процессам, историей версий и экспортом. Полностью покрывает раздел 5.1 ТЗ.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Собственный BPMN-редактор: перетаскивание узлов, шлюзы с условиями, зум/пан, запуск симуляции. Раздел 5.2 ТЗ.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Движок исполняет модель: создаёт задачи, считает SLA, эскалирует просрочки. Карточка задачи с файлами, комментариями и действиями. Раздел 5.3 ТЗ.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Задачи маршрутизируются между ролями/отделами; внешний портал ведёт статусы взаимодействия со сторонними организациями. Разделы 5.4–5.5 ТЗ.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Дашборды в реальном времени: активные/завершённые инстансы, соблюдение SLA, среднее время цикла, нагрузка по отделам, узкие места. Раздел 5.6 ТЗ.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Админ-панель управляет справочниками и симулятором. Локализация: ТЗ требует KK и RU — мы добавили ещё и английский, а также светлую тему.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Трассируемость: каждый функциональный раздел ТЗ имеет реализованный модуль. Нефункциональные требования (браузер, роли, локализация) также выполнены.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Эффекты из раздела 9 ТЗ: операционные, управленческие, для внешнего взаимодействия и стратегические.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Ссылка на репозиторий готова. Vercel-деплой запускается автоматически при push в main. Данные-примеры загружаются из localStorage при первом открытии.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Спасибо. Демонстрация: матрица → моделирование → запуск процесса → задачи → аналитика.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10195560" y="-822960"/>
            <a:ext cx="2926080" cy="2926080"/>
          </a:xfrm>
          <a:prstGeom prst="roundRect">
            <a:avLst>
              <a:gd name="adj" fmla="val 15625"/>
            </a:avLst>
          </a:prstGeom>
          <a:solidFill>
            <a:srgbClr val="6366F1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900000">
            <a:off x="-731520" y="4937760"/>
            <a:ext cx="2560320" cy="2560320"/>
          </a:xfrm>
          <a:prstGeom prst="roundRect">
            <a:avLst>
              <a:gd name="adj" fmla="val 17857"/>
            </a:avLst>
          </a:prstGeom>
          <a:solidFill>
            <a:srgbClr val="6366F1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71323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6366F1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" y="832104"/>
            <a:ext cx="182880" cy="182880"/>
          </a:xfrm>
          <a:prstGeom prst="rect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74980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 ·  BUSINESS PROCESS MANAGEMENT  ·  ASTANA HUB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1792" y="1965960"/>
            <a:ext cx="10972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BPM-система для цифровизации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бизнес-процессов блока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ролево-функциональная матрица  ·  моделирование BPMN  ·  workflow-движок  ·  контроль SLA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58368" y="5806440"/>
            <a:ext cx="10881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AIChemicals</a:t>
            </a:r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github.com/AIChemicals/Business-Process-Management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ТЕКУЩАЯ СИТУАЦИЯ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Процессы блока живут только в тексте ВНД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270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837944"/>
            <a:ext cx="9921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единого источника истины   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Роли, функции и полномочия разбросаны по разрозненным документам, которые трудно поддерживать в актуальном виде.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715768"/>
            <a:ext cx="109270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89864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770632"/>
            <a:ext cx="9921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Непрозрачная бизнес-логика   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Последовательность этапов, точки решений и условия перехода не формализованы в исполняемой модели.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648456"/>
            <a:ext cx="109270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83133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3703320"/>
            <a:ext cx="9921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Разрывы на стыках отделов   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Кросс-функциональное взаимодействие не оцифровано — потери времени, дублирование, «слепые зоны» ответственности.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581144"/>
            <a:ext cx="109270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76402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764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4636008"/>
            <a:ext cx="9921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Сложное внешнее взаимодействие   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Процессы со сторонними организациями не формализованы в единой системе.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5513832"/>
            <a:ext cx="109270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569671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696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3040" y="5568696"/>
            <a:ext cx="9921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субъективный контроль   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объективного инструмента мониторинга исполнения — снижается управляемость, растут риски ошибок.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ПРОЕКТА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текста ВНД — в управляемую</a:t>
            </a:r>
            <a:endParaRPr lang="en-US" sz="3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цифровую модель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97280" y="28803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475569"/>
          </a:solidFill>
          <a:ln/>
          <a:effectLst>
            <a:outerShdw sx="100000" sy="100000" kx="0" ky="0" algn="bl" rotWithShape="0" blurRad="114300" dist="38100" dir="5400000">
              <a:srgbClr val="0F172A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3200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ВНД (текст)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97280" y="40690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Регламенты,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положения,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инструкции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03320" y="2880360"/>
            <a:ext cx="502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892040" y="28803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/>
          <a:effectLst>
            <a:outerShdw sx="100000" sy="100000" kx="0" ky="0" algn="bl" rotWithShape="0" blurRad="114300" dist="38100" dir="5400000">
              <a:srgbClr val="0F172A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3200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BPM-система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892040" y="40690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Оцифровка,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исполнение,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0" y="2880360"/>
            <a:ext cx="502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686800" y="28803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/>
          <a:effectLst>
            <a:outerShdw sx="100000" sy="100000" kx="0" ky="0" algn="bl" rotWithShape="0" blurRad="114300" dist="38100" dir="5400000">
              <a:srgbClr val="0F172A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0" y="3200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· Функция</a:t>
            </a:r>
            <a:endParaRPr lang="en-US" sz="19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Процесс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686800" y="40690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управляемая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6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6235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цифровая модель, связывающая роли, функции и процессы, — с исполнением, контролем и аналитикой в реальном времени.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РЕШЕНИЯ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реализовано: 7 модулей в единой системе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496312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Ролево-функциональная матрица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807208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· функция · процесс, версии, экспорт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1783080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2496312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Моделирование BPMN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7600" y="2807208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Визуальный редактор, шаблоны, откат версий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1783080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9224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2496312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Workflow-движок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92240" y="2807208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Запуск, маршрутизация, эскалация, аудит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44000" y="1783080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2688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26880" y="2496312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Кросс-функциональное взаимодействие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326880" y="2807208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 задач, уведомления, документы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355848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35387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2960" y="4069080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Внешние организации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2960" y="4379976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Статусы, документы, контроль сроков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74720" y="3355848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0" y="35387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366F1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657600" y="4069080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и аналитика (SLA)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657600" y="4379976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Дашборды, узкие места, отчёты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09360" y="3355848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2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92240" y="35387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366F1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492240" y="4069080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Администрирование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492240" y="4379976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Пользователи, роли, справочники, API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144000" y="3355848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5400000">
              <a:srgbClr val="0F172A">
                <a:alpha val="2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326880" y="3502152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326880" y="3813048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Веб-приложение (SPA) · собственный SVG BPMN-движок · симулятор процессов и времени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0080" y="5440680"/>
            <a:ext cx="10927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система: RU / KK / EN  ·  тёмная и светлая темы  ·  работа в браузере  ·  данные-примеры уже загружены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1 · ТЗ 5.1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ролево-функциональная матрица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947672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47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87452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 ролей, функций и зон ответственности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60904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60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587752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Автоматическое связывание ролей с процессами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374136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74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300984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и фильтрация по роли, отделу, процессу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087368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87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4014216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версий и история изменений матрицы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800600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00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4727448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Выгрузка в форматах Excel / PDF</a:t>
            </a:r>
            <a:endParaRPr lang="en-US" sz="1400" dirty="0"/>
          </a:p>
        </p:txBody>
      </p:sp>
      <p:pic>
        <p:nvPicPr>
          <p:cNvPr id="19" name="Image 0" descr="/private/tmp/claude-501/-Users-ansar-Desktop-Astana-Hub-BPM/9c46db9d-3619-4a0d-8ec7-07b0c044bd0f/scratchpad/shots/01_matri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828800"/>
            <a:ext cx="5577840" cy="348615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F172A">
                <a:alpha val="22000"/>
              </a:srgbClr>
            </a:outerShdw>
          </a:effectLst>
        </p:spPr>
      </p:pic>
      <p:sp>
        <p:nvSpPr>
          <p:cNvPr id="20" name="Shape 17"/>
          <p:cNvSpPr/>
          <p:nvPr/>
        </p:nvSpPr>
        <p:spPr>
          <a:xfrm>
            <a:off x="5989320" y="1828800"/>
            <a:ext cx="5577840" cy="3486150"/>
          </a:xfrm>
          <a:prstGeom prst="rect">
            <a:avLst/>
          </a:prstGeom>
          <a:ln w="12700">
            <a:solidFill>
              <a:srgbClr val="6366F1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2 · ТЗ 5.2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Визуальное моделирование процессов (BPMN)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947672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47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87452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Визуальный редактор в нотации BPMN 2.0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60904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60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587752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Этапы, ветвления и точки принятия решений (шлюзы)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374136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74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300984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Библиотека шаблонов типовых процессов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087368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87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4014216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Версионирование моделей с откатом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800600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00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4727448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 моделей с ролево-функциональной матрицей</a:t>
            </a:r>
            <a:endParaRPr lang="en-US" sz="1400" dirty="0"/>
          </a:p>
        </p:txBody>
      </p:sp>
      <p:pic>
        <p:nvPicPr>
          <p:cNvPr id="19" name="Image 0" descr="/private/tmp/claude-501/-Users-ansar-Desktop-Astana-Hub-BPM/9c46db9d-3619-4a0d-8ec7-07b0c044bd0f/scratchpad/shots/02_model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828800"/>
            <a:ext cx="5577840" cy="348615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F172A">
                <a:alpha val="22000"/>
              </a:srgbClr>
            </a:outerShdw>
          </a:effectLst>
        </p:spPr>
      </p:pic>
      <p:sp>
        <p:nvSpPr>
          <p:cNvPr id="20" name="Shape 17"/>
          <p:cNvSpPr/>
          <p:nvPr/>
        </p:nvSpPr>
        <p:spPr>
          <a:xfrm>
            <a:off x="5989320" y="1828800"/>
            <a:ext cx="5577840" cy="3486150"/>
          </a:xfrm>
          <a:prstGeom prst="rect">
            <a:avLst/>
          </a:prstGeom>
          <a:ln w="12700">
            <a:solidFill>
              <a:srgbClr val="6366F1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3 · ТЗ 5.3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Workflow-движок: исполнение бизнес-логики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947672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47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87452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процессов: событие, срок, ручной запуск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60904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60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587752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Маршрутизация задач согласно бизнес-логике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374136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74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300984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Параллельные и последовательные ветки процесса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087368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87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4014216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Эскалация и напоминания при нарушении сроков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800600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00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4727448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Аудиторский след всех действий и переходов</a:t>
            </a:r>
            <a:endParaRPr lang="en-US" sz="1400" dirty="0"/>
          </a:p>
        </p:txBody>
      </p:sp>
      <p:pic>
        <p:nvPicPr>
          <p:cNvPr id="19" name="Image 0" descr="/private/tmp/claude-501/-Users-ansar-Desktop-Astana-Hub-BPM/9c46db9d-3619-4a0d-8ec7-07b0c044bd0f/scratchpad/shots/03_task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828800"/>
            <a:ext cx="5577840" cy="348615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F172A">
                <a:alpha val="22000"/>
              </a:srgbClr>
            </a:outerShdw>
          </a:effectLst>
        </p:spPr>
      </p:pic>
      <p:sp>
        <p:nvSpPr>
          <p:cNvPr id="20" name="Shape 17"/>
          <p:cNvSpPr/>
          <p:nvPr/>
        </p:nvSpPr>
        <p:spPr>
          <a:xfrm>
            <a:off x="5989320" y="1828800"/>
            <a:ext cx="5577840" cy="3486150"/>
          </a:xfrm>
          <a:prstGeom prst="rect">
            <a:avLst/>
          </a:prstGeom>
          <a:ln w="12700">
            <a:solidFill>
              <a:srgbClr val="6366F1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МОДУЛИ 4–5 · ТЗ 5.4–5.5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Кросс-функциональное и внешнее взаимодействие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 отделами (5.4)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13432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13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22402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 задач между отделами: ответственный, срок, статус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53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28803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реестр задач с фильтрами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593592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93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35204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Уведомления о новых задачах и сроках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33672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33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41605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Комментарии и документы к задаче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892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Внешние организации (5.5)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5330952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330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52578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Статусы: запрос отправлен → ответ → исполнено / отклонено · контроль сроков обязательств</a:t>
            </a:r>
            <a:endParaRPr lang="en-US" sz="1300" dirty="0"/>
          </a:p>
        </p:txBody>
      </p:sp>
      <p:pic>
        <p:nvPicPr>
          <p:cNvPr id="21" name="Image 0" descr="/private/tmp/claude-501/-Users-ansar-Desktop-Astana-Hub-BPM/9c46db9d-3619-4a0d-8ec7-07b0c044bd0f/scratchpad/shots/03_task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828800"/>
            <a:ext cx="5577840" cy="348615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F172A">
                <a:alpha val="22000"/>
              </a:srgbClr>
            </a:outerShdw>
          </a:effectLst>
        </p:spPr>
      </p:pic>
      <p:sp>
        <p:nvSpPr>
          <p:cNvPr id="22" name="Shape 19"/>
          <p:cNvSpPr/>
          <p:nvPr/>
        </p:nvSpPr>
        <p:spPr>
          <a:xfrm>
            <a:off x="5989320" y="1828800"/>
            <a:ext cx="5577840" cy="3486150"/>
          </a:xfrm>
          <a:prstGeom prst="rect">
            <a:avLst/>
          </a:prstGeom>
          <a:ln w="12700">
            <a:solidFill>
              <a:srgbClr val="6366F1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6 · ТЗ 5.6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Контроль, мониторинг и аналитика (SLA)</a:t>
            </a:r>
            <a:endParaRPr lang="en-US" sz="3100" dirty="0"/>
          </a:p>
        </p:txBody>
      </p:sp>
      <p:pic>
        <p:nvPicPr>
          <p:cNvPr id="4" name="Image 0" descr="/private/tmp/claude-501/-Users-ansar-Desktop-Astana-Hub-BPM/9c46db9d-3619-4a0d-8ec7-07b0c044bd0f/scratchpad/shots/04_analytic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828800"/>
            <a:ext cx="5577840" cy="348615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F172A">
                <a:alpha val="2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989320" y="1828800"/>
            <a:ext cx="5577840" cy="3486150"/>
          </a:xfrm>
          <a:prstGeom prst="rect">
            <a:avLst/>
          </a:prstGeom>
          <a:ln w="12700">
            <a:solidFill>
              <a:srgbClr val="6366F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920240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206654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1920240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Реальное время 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Дашборды статусов исполнения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2816352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296265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371600" y="2816352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отклонений от нормативных сроков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712464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77240" y="38587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371600" y="3712464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Узкие места 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 по нагрузке отделов и звеньям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40080" y="4608576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77240" y="47548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371600" y="4608576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PDF 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Выгрузка управленческой отчётности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7 · ТЗ 5.7 + НЕФУНКЦИОНАЛЬНЫЕ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Администрирование, локализация и UX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947672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47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87452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пользователями, ролями и правами доступа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532888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 справочников: отделы, роли, виды процессов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264408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191256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 к интеграциям через API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922776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22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3849624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Локализация RU / KK по ТЗ — плюс EN сверх требований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581144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581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450799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Тёмная и светлая темы, работа через веб-браузер</a:t>
            </a:r>
            <a:endParaRPr lang="en-US" sz="1350" dirty="0"/>
          </a:p>
        </p:txBody>
      </p:sp>
      <p:pic>
        <p:nvPicPr>
          <p:cNvPr id="19" name="Image 0" descr="/private/tmp/claude-501/-Users-ansar-Desktop-Astana-Hub-BPM/9c46db9d-3619-4a0d-8ec7-07b0c044bd0f/scratchpad/shots/05_matrix_en_ligh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828800"/>
            <a:ext cx="5577840" cy="348615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F172A">
                <a:alpha val="22000"/>
              </a:srgbClr>
            </a:outerShdw>
          </a:effectLst>
        </p:spPr>
      </p:pic>
      <p:sp>
        <p:nvSpPr>
          <p:cNvPr id="20" name="Shape 17"/>
          <p:cNvSpPr/>
          <p:nvPr/>
        </p:nvSpPr>
        <p:spPr>
          <a:xfrm>
            <a:off x="5989320" y="1828800"/>
            <a:ext cx="5577840" cy="3486150"/>
          </a:xfrm>
          <a:prstGeom prst="rect">
            <a:avLst/>
          </a:prstGeom>
          <a:ln w="12700">
            <a:solidFill>
              <a:srgbClr val="6366F1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СООТВЕТСТВИЕ ТЗ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Полное покрытие технического задания</a:t>
            </a:r>
            <a:endParaRPr lang="en-US" sz="3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270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36092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Раздел ТЗ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Требование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Статус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Ролево-функциональная матрица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Реализовано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Моделирование бизнес-процессов (BPMN)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Реализовано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Workflow-движок — исполнение бизнес-логики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Реализовано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Кросс-функциональное взаимодействие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Реализовано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Взаимодействие с внешними организациями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Реализовано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Контроль, мониторинг и аналитика (SLA)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Реализовано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Администрирование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Реализовано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Нефункциональные: веб/браузер, роли и доступ, RU/KK (+EN)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Реализовано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9 ТЗ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Ожидаемый эффект от внедрения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146304" cy="822960"/>
          </a:xfrm>
          <a:prstGeom prst="roundRect">
            <a:avLst>
              <a:gd name="adj" fmla="val 37500"/>
            </a:avLst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02996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Операционные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487168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Ускорение кросс-функциональных процессов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ошибок и потерь на стыках отделов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Быстрая адаптация новых сотрудников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2057400"/>
            <a:ext cx="146304" cy="822960"/>
          </a:xfrm>
          <a:prstGeom prst="roundRect">
            <a:avLst>
              <a:gd name="adj" fmla="val 37500"/>
            </a:avLst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202996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Управленческие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2487168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Прозрачность и контроль в реальном времени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Объективная аналитическая база для решений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зависимости от отдельных людей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4206240"/>
            <a:ext cx="146304" cy="822960"/>
          </a:xfrm>
          <a:prstGeom prst="roundRect">
            <a:avLst>
              <a:gd name="adj" fmla="val 37500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17880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Взаимодействие вовне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4636008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Прозрачные статусы со сторонними организациями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договорных и репутационных рисков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сроков исполнения обязательств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97764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4206240"/>
            <a:ext cx="146304" cy="822960"/>
          </a:xfrm>
          <a:prstGeom prst="roundRect">
            <a:avLst>
              <a:gd name="adj" fmla="val 37500"/>
            </a:avLst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417880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Стратегические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4636008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 для интеграций с другими системами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ВНД поддерживаются в актуальном состоянии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 на другие блоки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 И ЗАПУСК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Живое демо и исходный код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943600" cy="713232"/>
          </a:xfrm>
          <a:prstGeom prst="roundRect">
            <a:avLst>
              <a:gd name="adj" fmla="val 1153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(исходный код)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8680" y="2221992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github.com/AIChemicals/Business-Process-Management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715768"/>
            <a:ext cx="5943600" cy="713232"/>
          </a:xfrm>
          <a:prstGeom prst="roundRect">
            <a:avLst>
              <a:gd name="adj" fmla="val 1153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8072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(Vercel)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разверните на Vercel — ссылка вида your-project.vercel.app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557016"/>
            <a:ext cx="5943600" cy="713232"/>
          </a:xfrm>
          <a:prstGeom prst="roundRect">
            <a:avLst>
              <a:gd name="adj" fmla="val 1153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648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390448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 (ES-модули) · SVG BPMN-движок · без внешних зависимостей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398264"/>
            <a:ext cx="5943600" cy="713232"/>
          </a:xfrm>
          <a:prstGeom prst="roundRect">
            <a:avLst>
              <a:gd name="adj" fmla="val 1153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4897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старт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745736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Откройте ссылку — примеры процессов, задач и матрицы уже загружены</a:t>
            </a:r>
            <a:endParaRPr lang="en-US" sz="1150" dirty="0"/>
          </a:p>
        </p:txBody>
      </p:sp>
      <p:pic>
        <p:nvPicPr>
          <p:cNvPr id="16" name="Image 0" descr="/private/tmp/claude-501/-Users-ansar-Desktop-Astana-Hub-BPM/9c46db9d-3619-4a0d-8ec7-07b0c044bd0f/scratchpad/shots/06_modeler_en_ligh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1874520"/>
            <a:ext cx="4709160" cy="2943225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F172A">
                <a:alpha val="22000"/>
              </a:srgbClr>
            </a:outerShdw>
          </a:effectLst>
        </p:spPr>
      </p:pic>
      <p:sp>
        <p:nvSpPr>
          <p:cNvPr id="17" name="Shape 14"/>
          <p:cNvSpPr/>
          <p:nvPr/>
        </p:nvSpPr>
        <p:spPr>
          <a:xfrm>
            <a:off x="6858000" y="1874520"/>
            <a:ext cx="4709160" cy="2943225"/>
          </a:xfrm>
          <a:prstGeom prst="rect">
            <a:avLst/>
          </a:prstGeom>
          <a:ln w="12700">
            <a:solidFill>
              <a:srgbClr val="6366F1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9966960" y="4297680"/>
            <a:ext cx="3108960" cy="3108960"/>
          </a:xfrm>
          <a:prstGeom prst="roundRect">
            <a:avLst>
              <a:gd name="adj" fmla="val 14706"/>
            </a:avLst>
          </a:prstGeom>
          <a:solidFill>
            <a:srgbClr val="6366F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120640" y="23317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5248656" y="2459736"/>
            <a:ext cx="201168" cy="201168"/>
          </a:xfrm>
          <a:prstGeom prst="rect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971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ответить на вопросы жюри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4846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AIChemicals  ·  github.com/AIChemicals/Business-Process-Management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2026-07-23T13:29:52Z</dcterms:created>
  <dcterms:modified xsi:type="dcterms:W3CDTF">2026-07-23T13:29:52Z</dcterms:modified>
</cp:coreProperties>
</file>